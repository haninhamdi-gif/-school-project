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89567" autoAdjust="0"/>
  </p:normalViewPr>
  <p:slideViewPr>
    <p:cSldViewPr snapToGrid="0" snapToObjects="1">
      <p:cViewPr varScale="1">
        <p:scale>
          <a:sx n="76" d="100"/>
          <a:sy n="76" d="100"/>
        </p:scale>
        <p:origin x="57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  <a:latin typeface="Arial"/>
              </a:rPr>
              <a:t>Mini </a:t>
            </a:r>
            <a:r>
              <a:rPr sz="2800" b="1" dirty="0" err="1">
                <a:solidFill>
                  <a:srgbClr val="FF0000"/>
                </a:solidFill>
                <a:latin typeface="Arial"/>
              </a:rPr>
              <a:t>Projet</a:t>
            </a:r>
            <a:r>
              <a:rPr sz="2800" b="1" dirty="0">
                <a:solidFill>
                  <a:srgbClr val="FF0000"/>
                </a:solidFill>
                <a:latin typeface="Arial"/>
              </a:rPr>
              <a:t> — Java </a:t>
            </a:r>
            <a:r>
              <a:rPr sz="2800" b="1" dirty="0" err="1">
                <a:solidFill>
                  <a:srgbClr val="FF0000"/>
                </a:solidFill>
                <a:latin typeface="Arial"/>
              </a:rPr>
              <a:t>Avancée</a:t>
            </a:r>
            <a:r>
              <a:rPr sz="2800" b="1" dirty="0">
                <a:solidFill>
                  <a:srgbClr val="FF0000"/>
                </a:solidFill>
                <a:latin typeface="Arial"/>
              </a:rPr>
              <a:t> &amp; Architectures </a:t>
            </a:r>
            <a:r>
              <a:rPr sz="2800" b="1" dirty="0" err="1">
                <a:solidFill>
                  <a:srgbClr val="FF0000"/>
                </a:solidFill>
                <a:latin typeface="Arial"/>
              </a:rPr>
              <a:t>Logicielles</a:t>
            </a:r>
            <a:endParaRPr sz="28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000000"/>
                </a:solidFill>
                <a:latin typeface="Arial"/>
              </a:rPr>
              <a:t>Spring Boot · Spring Data JPA ·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97385" y="2763603"/>
            <a:ext cx="6400800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2060"/>
                </a:solidFill>
                <a:latin typeface="Arial"/>
              </a:rPr>
              <a:t>Realisé</a:t>
            </a:r>
            <a:r>
              <a:rPr sz="1800" dirty="0">
                <a:solidFill>
                  <a:srgbClr val="002060"/>
                </a:solidFill>
                <a:latin typeface="Arial"/>
              </a:rPr>
              <a:t> par </a:t>
            </a:r>
            <a:r>
              <a:rPr sz="1800" dirty="0">
                <a:solidFill>
                  <a:srgbClr val="000000"/>
                </a:solidFill>
                <a:latin typeface="Arial"/>
              </a:rPr>
              <a:t>:</a:t>
            </a:r>
            <a:endParaRPr lang="fr-FR"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800" dirty="0">
                <a:solidFill>
                  <a:srgbClr val="000000"/>
                </a:solidFill>
                <a:latin typeface="Arial"/>
              </a:rPr>
              <a:t>H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anin</a:t>
            </a:r>
            <a:r>
              <a:rPr sz="1800" dirty="0">
                <a:solidFill>
                  <a:srgbClr val="000000"/>
                </a:solidFill>
                <a:latin typeface="Arial"/>
              </a:rPr>
              <a:t> hamdi 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Nihel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bouhmi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Malek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bensaid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Islem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ouesleti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ctr"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2lIG2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6995" y="994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000000"/>
                </a:solidFill>
                <a:latin typeface="Arial"/>
              </a:rPr>
              <a:t>ISG Bizerte — 2025/2026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4CB726-5287-47B2-B40C-5955EEB9385E}"/>
              </a:ext>
            </a:extLst>
          </p:cNvPr>
          <p:cNvSpPr txBox="1"/>
          <p:nvPr/>
        </p:nvSpPr>
        <p:spPr>
          <a:xfrm>
            <a:off x="241160" y="575324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Encadré par :</a:t>
            </a:r>
            <a:br>
              <a:rPr lang="fr-FR" dirty="0"/>
            </a:br>
            <a:r>
              <a:rPr lang="fr-FR" dirty="0"/>
              <a:t>Mme Wafa </a:t>
            </a:r>
            <a:r>
              <a:rPr lang="fr-FR" dirty="0" err="1"/>
              <a:t>Neji</a:t>
            </a:r>
            <a:r>
              <a:rPr lang="fr-FR" dirty="0"/>
              <a:t> </a:t>
            </a:r>
            <a:r>
              <a:rPr lang="fr-FR" dirty="0" err="1"/>
              <a:t>Stancati</a:t>
            </a:r>
            <a:br>
              <a:rPr lang="fr-FR" dirty="0"/>
            </a:br>
            <a:r>
              <a:rPr lang="fr-FR" dirty="0"/>
              <a:t>Mme Hela </a:t>
            </a:r>
            <a:r>
              <a:rPr lang="fr-FR" dirty="0" err="1"/>
              <a:t>Jabbar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Architecture du 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projet</a:t>
            </a:r>
            <a:endParaRPr sz="24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53048"/>
            <a:ext cx="109728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Controller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</a:t>
            </a:r>
            <a:r>
              <a:rPr sz="1800" dirty="0">
                <a:solidFill>
                  <a:srgbClr val="000000"/>
                </a:solidFill>
                <a:latin typeface="Arial"/>
              </a:rPr>
              <a:t>.</a:t>
            </a:r>
            <a:r>
              <a:rPr lang="fr-FR" sz="1800" dirty="0" err="1">
                <a:solidFill>
                  <a:srgbClr val="000000"/>
                </a:solidFill>
                <a:latin typeface="Arial"/>
              </a:rPr>
              <a:t>controller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TestSchoolController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Service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edu.isgb.school.service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SchoolService</a:t>
            </a:r>
            <a:r>
              <a:rPr sz="18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Logique</a:t>
            </a:r>
            <a:r>
              <a:rPr sz="1800" dirty="0">
                <a:solidFill>
                  <a:srgbClr val="000000"/>
                </a:solidFill>
                <a:latin typeface="Arial"/>
              </a:rPr>
              <a:t> métier</a:t>
            </a: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Repository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edu.isgb.school.repository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JpaRepository</a:t>
            </a:r>
            <a:r>
              <a:rPr sz="18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Accès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données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Entities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edu.isgb.school.entities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School, Student, Instructor, Course, Department, Address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0000"/>
                </a:solidFill>
                <a:latin typeface="Arial"/>
              </a:rPr>
              <a:t>Entités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 JPA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School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idSchool</a:t>
            </a:r>
            <a:r>
              <a:rPr sz="1350" dirty="0">
                <a:solidFill>
                  <a:srgbClr val="000000"/>
                </a:solidFill>
                <a:latin typeface="Arial"/>
              </a:rPr>
              <a:t>, name, phone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OneToMany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Department, Student, Instructor</a:t>
            </a:r>
          </a:p>
          <a:p>
            <a:pPr>
              <a:spcAft>
                <a:spcPts val="100"/>
              </a:spcAft>
            </a:pP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Department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idDepartment</a:t>
            </a:r>
            <a:r>
              <a:rPr sz="135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Student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idStudent</a:t>
            </a:r>
            <a:r>
              <a:rPr sz="1350" dirty="0">
                <a:solidFill>
                  <a:srgbClr val="000000"/>
                </a:solidFill>
                <a:latin typeface="Arial"/>
              </a:rPr>
              <a:t>, name,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birthDate</a:t>
            </a: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Address,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Address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idAddress</a:t>
            </a:r>
            <a:r>
              <a:rPr sz="1350" dirty="0">
                <a:solidFill>
                  <a:srgbClr val="000000"/>
                </a:solidFill>
                <a:latin typeface="Arial"/>
              </a:rPr>
              <a:t>, street, city,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postalCode</a:t>
            </a: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Aucune</a:t>
            </a:r>
            <a:r>
              <a:rPr sz="1350" dirty="0">
                <a:solidFill>
                  <a:srgbClr val="000000"/>
                </a:solidFill>
                <a:latin typeface="Arial"/>
              </a:rPr>
              <a:t> (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entité</a:t>
            </a:r>
            <a:r>
              <a:rPr sz="1350" dirty="0">
                <a:solidFill>
                  <a:srgbClr val="000000"/>
                </a:solidFill>
                <a:latin typeface="Arial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dépendante</a:t>
            </a:r>
            <a:r>
              <a:rPr sz="135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>
              <a:spcAft>
                <a:spcPts val="100"/>
              </a:spcAft>
            </a:pP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Instructor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idInstructor</a:t>
            </a:r>
            <a:r>
              <a:rPr sz="135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ManyToMany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Course,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35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Course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idCourse</a:t>
            </a:r>
            <a:r>
              <a:rPr sz="135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350" dirty="0" err="1">
                <a:solidFill>
                  <a:srgbClr val="000000"/>
                </a:solidFill>
                <a:latin typeface="Arial"/>
              </a:rPr>
              <a:t>ManyToMany</a:t>
            </a:r>
            <a:r>
              <a:rPr sz="1350" dirty="0">
                <a:solidFill>
                  <a:srgbClr val="000000"/>
                </a:solidFill>
                <a:latin typeface="Arial"/>
              </a:rPr>
              <a:t> ← Instructor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2 — School ↔ Department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OneToMany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720840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cas</a:t>
            </a:r>
            <a:r>
              <a:rPr sz="1600" dirty="0">
                <a:solidFill>
                  <a:srgbClr val="000000"/>
                </a:solidFill>
                <a:latin typeface="Arial"/>
              </a:rPr>
              <a:t> 1:Table de jointure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t_school_t_department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introduit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table de jointure inutile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OneToMany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Cela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rend la base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complexe</a:t>
            </a:r>
            <a:r>
              <a:rPr sz="1600" dirty="0">
                <a:solidFill>
                  <a:srgbClr val="000000"/>
                </a:solidFill>
                <a:latin typeface="Arial"/>
              </a:rPr>
              <a:t> sans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apporter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d’avantage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réel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cas</a:t>
            </a:r>
            <a:r>
              <a:rPr sz="1600" dirty="0">
                <a:solidFill>
                  <a:srgbClr val="000000"/>
                </a:solidFill>
                <a:latin typeface="Arial"/>
              </a:rPr>
              <a:t> 2: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Department + table de jointure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contient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inutile.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présence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d’une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suffit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donc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table de jointure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devient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superflue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3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cas</a:t>
            </a:r>
            <a:r>
              <a:rPr sz="1600" dirty="0">
                <a:solidFill>
                  <a:srgbClr val="000000"/>
                </a:solidFill>
                <a:latin typeface="Arial"/>
              </a:rPr>
              <a:t> 3:Clé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school_PK_school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Department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uniquement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mappedBy</a:t>
            </a:r>
            <a:r>
              <a:rPr sz="1600" dirty="0">
                <a:solidFill>
                  <a:srgbClr val="000000"/>
                </a:solidFill>
                <a:latin typeface="Arial"/>
              </a:rPr>
              <a:t>="school" dans School, @ManyToOne dans Department. Pas de table de jointure inutile, navigation dans les deux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sens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possible</a:t>
            </a:r>
            <a:r>
              <a:rPr sz="115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51560"/>
            <a:ext cx="438912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dirty="0">
                <a:solidFill>
                  <a:srgbClr val="FF0000"/>
                </a:solidFill>
                <a:latin typeface="Courier New"/>
              </a:rPr>
              <a:t>Code </a:t>
            </a:r>
            <a:r>
              <a:rPr lang="fr-FR" sz="1400" dirty="0">
                <a:solidFill>
                  <a:srgbClr val="FF0000"/>
                </a:solidFill>
                <a:latin typeface="Courier New"/>
              </a:rPr>
              <a:t>adéquats :</a:t>
            </a:r>
            <a:endParaRPr sz="1400" dirty="0">
              <a:solidFill>
                <a:srgbClr val="FF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School.java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@OneToMany(mappedBy = "school",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        cascade = </a:t>
            </a:r>
            <a:r>
              <a:rPr sz="1400" dirty="0" err="1">
                <a:solidFill>
                  <a:srgbClr val="000000"/>
                </a:solidFill>
                <a:latin typeface="Courier New"/>
              </a:rPr>
              <a:t>CascadeType.ALL</a:t>
            </a:r>
            <a:r>
              <a:rPr sz="1400" dirty="0">
                <a:solidFill>
                  <a:srgbClr val="000000"/>
                </a:solidFill>
                <a:latin typeface="Courier New"/>
              </a:rPr>
              <a:t>,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        fetch = </a:t>
            </a:r>
            <a:r>
              <a:rPr sz="1400" dirty="0" err="1">
                <a:solidFill>
                  <a:srgbClr val="000000"/>
                </a:solidFill>
                <a:latin typeface="Courier New"/>
              </a:rPr>
              <a:t>FetchType.LAZY</a:t>
            </a:r>
            <a:r>
              <a:rPr sz="14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private List&lt;Department&gt; departments;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Department.java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@ManyToOne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</a:rPr>
              <a:t>private School </a:t>
            </a:r>
            <a:r>
              <a:rPr sz="1400" dirty="0" err="1">
                <a:solidFill>
                  <a:srgbClr val="000000"/>
                </a:solidFill>
                <a:latin typeface="Courier New"/>
              </a:rPr>
              <a:t>school</a:t>
            </a:r>
            <a:r>
              <a:rPr sz="1400" dirty="0">
                <a:solidFill>
                  <a:srgbClr val="000000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4 — Student → Address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OneToOne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720840" cy="5157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student_PK_Student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Address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place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Address,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alors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que la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unidirectionnelle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vers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Address. Address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n’a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besoin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connaître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son Student.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Student et dans Address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introduit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deux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clés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étrangères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représenter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Cela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crée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rend 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modèle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complexe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3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address_id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uniquement</a:t>
            </a: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respecte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sens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navigation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vers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Address. Une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suffit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représenter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600" dirty="0">
                <a:solidFill>
                  <a:srgbClr val="000000"/>
                </a:solidFill>
                <a:latin typeface="Arial"/>
              </a:rPr>
              <a:t>. Ce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choix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évite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simplifie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structure de la base.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CascadeType.ALL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garantit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sauvegarde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suppression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automatique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l'adresse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51560"/>
            <a:ext cx="43891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dirty="0">
                <a:solidFill>
                  <a:srgbClr val="FF0000"/>
                </a:solidFill>
                <a:latin typeface="Courier New"/>
              </a:rPr>
              <a:t>Code extrait</a:t>
            </a:r>
          </a:p>
          <a:p>
            <a:pPr>
              <a:spcAft>
                <a:spcPts val="100"/>
              </a:spcAft>
            </a:pPr>
            <a:endParaRPr sz="110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Student.java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@OneToOne(cascade = </a:t>
            </a:r>
            <a:r>
              <a:rPr sz="1100" dirty="0" err="1">
                <a:solidFill>
                  <a:srgbClr val="000000"/>
                </a:solidFill>
                <a:latin typeface="Courier New"/>
              </a:rPr>
              <a:t>CascadeType.ALL</a:t>
            </a:r>
            <a:r>
              <a:rPr sz="11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private Address </a:t>
            </a:r>
            <a:r>
              <a:rPr sz="1100" dirty="0" err="1">
                <a:solidFill>
                  <a:srgbClr val="000000"/>
                </a:solidFill>
                <a:latin typeface="Courier New"/>
              </a:rPr>
              <a:t>address</a:t>
            </a:r>
            <a:r>
              <a:rPr sz="110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endParaRPr sz="110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Address.java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@Entity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public class Address {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    @Id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    @GeneratedValue(strategy = </a:t>
            </a:r>
            <a:r>
              <a:rPr sz="1100" dirty="0" err="1">
                <a:solidFill>
                  <a:srgbClr val="000000"/>
                </a:solidFill>
                <a:latin typeface="Courier New"/>
              </a:rPr>
              <a:t>GenerationType.IDENTITY</a:t>
            </a:r>
            <a:r>
              <a:rPr sz="11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    private Integer </a:t>
            </a:r>
            <a:r>
              <a:rPr sz="1100" dirty="0" err="1">
                <a:solidFill>
                  <a:srgbClr val="000000"/>
                </a:solidFill>
                <a:latin typeface="Courier New"/>
              </a:rPr>
              <a:t>idAddress</a:t>
            </a:r>
            <a:r>
              <a:rPr sz="110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6 — Instructor ↔ Course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ManyToMany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035040" cy="3654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  <a:endParaRPr lang="fr-FR" sz="1600" dirty="0">
              <a:solidFill>
                <a:srgbClr val="FF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600" dirty="0">
                <a:solidFill>
                  <a:srgbClr val="000000"/>
                </a:solidFill>
                <a:latin typeface="Arial"/>
              </a:rPr>
              <a:t>:n’est pas retenu car il génère deux tables de jointure, ce qui crée une redondance inutile et complique le schéma de la base de données.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@ManyToMany(cascade=ALL)  →  Instructor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mappedBy</a:t>
            </a:r>
            <a:r>
              <a:rPr sz="1600" dirty="0">
                <a:solidFill>
                  <a:srgbClr val="000000"/>
                </a:solidFill>
                <a:latin typeface="Arial"/>
              </a:rPr>
              <a:t>="courses"          →  Course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génère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table de jointure, avec Instructor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comme</a:t>
            </a:r>
            <a:r>
              <a:rPr sz="1600" dirty="0">
                <a:solidFill>
                  <a:srgbClr val="000000"/>
                </a:solidFill>
                <a:latin typeface="Arial"/>
              </a:rPr>
              <a:t> propriétaire de la relation,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qui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plus simple et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cohérent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Code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correcte</a:t>
            </a:r>
            <a:r>
              <a:rPr sz="1600" dirty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880" y="1097280"/>
            <a:ext cx="5074920" cy="19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19" dirty="0">
                <a:solidFill>
                  <a:srgbClr val="FF0000"/>
                </a:solidFill>
                <a:latin typeface="Courier New"/>
              </a:rPr>
              <a:t>Code extrait</a:t>
            </a:r>
          </a:p>
          <a:p>
            <a:pPr>
              <a:spcAft>
                <a:spcPts val="100"/>
              </a:spcAft>
            </a:pPr>
            <a:endParaRPr sz="1019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19" dirty="0">
                <a:solidFill>
                  <a:srgbClr val="000000"/>
                </a:solidFill>
                <a:latin typeface="Courier New"/>
              </a:rPr>
              <a:t>Instructor.java</a:t>
            </a:r>
          </a:p>
          <a:p>
            <a:pPr>
              <a:spcAft>
                <a:spcPts val="100"/>
              </a:spcAft>
            </a:pPr>
            <a:r>
              <a:rPr sz="1019" dirty="0">
                <a:latin typeface="Courier New"/>
              </a:rPr>
              <a:t>@ManyToMany(cascade = </a:t>
            </a:r>
            <a:r>
              <a:rPr sz="1019" dirty="0" err="1">
                <a:latin typeface="Courier New"/>
              </a:rPr>
              <a:t>CascadeType.ALL</a:t>
            </a:r>
            <a:r>
              <a:rPr lang="fr-FR" sz="1019" dirty="0">
                <a:latin typeface="Courier New"/>
              </a:rPr>
              <a:t>,</a:t>
            </a:r>
          </a:p>
          <a:p>
            <a:pPr>
              <a:spcAft>
                <a:spcPts val="100"/>
              </a:spcAft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fr-FR" altLang="fr-FR" sz="105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fetch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= </a:t>
            </a:r>
            <a:r>
              <a:rPr kumimoji="0" lang="fr-FR" altLang="fr-FR" sz="105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FetchType.</a:t>
            </a:r>
            <a:r>
              <a:rPr kumimoji="0" lang="fr-FR" altLang="fr-FR" sz="1050" b="0" i="1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LAZY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endParaRPr sz="1019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19" dirty="0">
                <a:solidFill>
                  <a:srgbClr val="000000"/>
                </a:solidFill>
                <a:latin typeface="Courier New"/>
              </a:rPr>
              <a:t>private List&lt;Course&gt; courses;</a:t>
            </a:r>
          </a:p>
          <a:p>
            <a:pPr>
              <a:spcAft>
                <a:spcPts val="100"/>
              </a:spcAft>
            </a:pPr>
            <a:endParaRPr sz="1019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19" dirty="0">
                <a:solidFill>
                  <a:srgbClr val="000000"/>
                </a:solidFill>
                <a:latin typeface="Courier New"/>
              </a:rPr>
              <a:t>Course.java</a:t>
            </a:r>
          </a:p>
          <a:p>
            <a:pPr>
              <a:spcAft>
                <a:spcPts val="100"/>
              </a:spcAft>
            </a:pPr>
            <a:r>
              <a:rPr sz="1019" dirty="0">
                <a:solidFill>
                  <a:srgbClr val="000000"/>
                </a:solidFill>
                <a:latin typeface="Courier New"/>
              </a:rPr>
              <a:t>@ManyToMany(mappedBy = "courses")</a:t>
            </a:r>
          </a:p>
          <a:p>
            <a:pPr>
              <a:spcAft>
                <a:spcPts val="100"/>
              </a:spcAft>
            </a:pPr>
            <a:r>
              <a:rPr sz="1019" dirty="0">
                <a:solidFill>
                  <a:srgbClr val="000000"/>
                </a:solidFill>
                <a:latin typeface="Courier New"/>
              </a:rPr>
              <a:t>private List&lt;Instructor&gt; instructors;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0000"/>
                </a:solidFill>
                <a:latin typeface="Arial"/>
              </a:rPr>
              <a:t>SchoolService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 — 10 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méthodes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 (Question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15888"/>
            <a:ext cx="5760720" cy="4644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A.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createSchool</a:t>
            </a:r>
            <a:r>
              <a:rPr sz="1400" dirty="0">
                <a:solidFill>
                  <a:srgbClr val="000000"/>
                </a:solidFill>
                <a:latin typeface="Arial"/>
              </a:rPr>
              <a:t>()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School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B.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getSchoolById</a:t>
            </a:r>
            <a:r>
              <a:rPr sz="1400" dirty="0">
                <a:solidFill>
                  <a:srgbClr val="000000"/>
                </a:solidFill>
                <a:latin typeface="Arial"/>
              </a:rPr>
              <a:t>(id)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Retourner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School par ID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C.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createStudent</a:t>
            </a:r>
            <a:r>
              <a:rPr sz="1400" dirty="0">
                <a:solidFill>
                  <a:srgbClr val="000000"/>
                </a:solidFill>
                <a:latin typeface="Arial"/>
              </a:rPr>
              <a:t>()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un Student avec Address et School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D.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getAllStudents</a:t>
            </a:r>
            <a:r>
              <a:rPr sz="1400" dirty="0">
                <a:solidFill>
                  <a:srgbClr val="000000"/>
                </a:solidFill>
                <a:latin typeface="Arial"/>
              </a:rPr>
              <a:t>()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>
                <a:solidFill>
                  <a:srgbClr val="000000"/>
                </a:solidFill>
                <a:latin typeface="Arial"/>
              </a:rPr>
              <a:t>Lister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tous</a:t>
            </a:r>
            <a:r>
              <a:rPr sz="1400" dirty="0">
                <a:solidFill>
                  <a:srgbClr val="000000"/>
                </a:solidFill>
                <a:latin typeface="Arial"/>
              </a:rPr>
              <a:t> les Students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E.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createInstructor</a:t>
            </a:r>
            <a:r>
              <a:rPr sz="1400" dirty="0">
                <a:solidFill>
                  <a:srgbClr val="000000"/>
                </a:solidFill>
                <a:latin typeface="Arial"/>
              </a:rPr>
              <a:t>()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un Instructor avec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liste</a:t>
            </a:r>
            <a:r>
              <a:rPr sz="1400" dirty="0">
                <a:solidFill>
                  <a:srgbClr val="000000"/>
                </a:solidFill>
                <a:latin typeface="Arial"/>
              </a:rPr>
              <a:t> de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cours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F.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getInstructorByName</a:t>
            </a:r>
            <a:r>
              <a:rPr sz="1400" dirty="0">
                <a:solidFill>
                  <a:srgbClr val="000000"/>
                </a:solidFill>
                <a:latin typeface="Arial"/>
              </a:rPr>
              <a:t>(name)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>
                <a:solidFill>
                  <a:srgbClr val="000000"/>
                </a:solidFill>
                <a:latin typeface="Arial"/>
              </a:rPr>
              <a:t>Lister les Instructors par nom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G.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getInstructorById</a:t>
            </a:r>
            <a:r>
              <a:rPr sz="1400" dirty="0">
                <a:solidFill>
                  <a:srgbClr val="000000"/>
                </a:solidFill>
                <a:latin typeface="Arial"/>
              </a:rPr>
              <a:t>(id)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Retourner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un Instructor par ID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H.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getCourseById</a:t>
            </a:r>
            <a:r>
              <a:rPr sz="1400" dirty="0">
                <a:solidFill>
                  <a:srgbClr val="000000"/>
                </a:solidFill>
                <a:latin typeface="Arial"/>
              </a:rPr>
              <a:t>(id)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Retourner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un Course par ID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I.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getCoursesByInstructor</a:t>
            </a:r>
            <a:r>
              <a:rPr sz="1400" dirty="0">
                <a:solidFill>
                  <a:srgbClr val="000000"/>
                </a:solidFill>
                <a:latin typeface="Arial"/>
              </a:rPr>
              <a:t>(id)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>
                <a:solidFill>
                  <a:srgbClr val="000000"/>
                </a:solidFill>
                <a:latin typeface="Arial"/>
              </a:rPr>
              <a:t>Lister les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cours</a:t>
            </a:r>
            <a:r>
              <a:rPr sz="1400" dirty="0">
                <a:solidFill>
                  <a:srgbClr val="000000"/>
                </a:solidFill>
                <a:latin typeface="Arial"/>
              </a:rPr>
              <a:t> d'un Instructor</a:t>
            </a:r>
          </a:p>
          <a:p>
            <a:pPr>
              <a:spcAft>
                <a:spcPts val="100"/>
              </a:spcAf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8,</a:t>
            </a:r>
            <a:r>
              <a:rPr sz="1400" dirty="0">
                <a:solidFill>
                  <a:srgbClr val="000000"/>
                </a:solidFill>
                <a:latin typeface="Arial"/>
              </a:rPr>
              <a:t>J.</a:t>
            </a:r>
          </a:p>
          <a:p>
            <a:pPr>
              <a:spcAft>
                <a:spcPts val="1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addCourseToInstructor</a:t>
            </a:r>
            <a:r>
              <a:rPr sz="1400" dirty="0">
                <a:solidFill>
                  <a:srgbClr val="000000"/>
                </a:solidFill>
                <a:latin typeface="Arial"/>
              </a:rPr>
              <a:t>(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iId,cId</a:t>
            </a:r>
            <a:r>
              <a:rPr sz="1400" dirty="0">
                <a:solidFill>
                  <a:srgbClr val="000000"/>
                </a:solidFill>
                <a:latin typeface="Arial"/>
              </a:rPr>
              <a:t>)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: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Ajouter</a:t>
            </a:r>
            <a:r>
              <a:rPr sz="1400" dirty="0">
                <a:solidFill>
                  <a:srgbClr val="000000"/>
                </a:solidFill>
                <a:latin typeface="Arial"/>
              </a:rPr>
              <a:t> un Course à un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Instru</a:t>
            </a:r>
            <a:r>
              <a:rPr lang="fr-FR" sz="1400" dirty="0">
                <a:solidFill>
                  <a:srgbClr val="000000"/>
                </a:solidFill>
                <a:latin typeface="Arial"/>
              </a:rPr>
              <a:t>c</a:t>
            </a:r>
            <a:r>
              <a:rPr sz="1400" dirty="0">
                <a:solidFill>
                  <a:srgbClr val="000000"/>
                </a:solidFill>
                <a:latin typeface="Arial"/>
              </a:rPr>
              <a:t>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005840"/>
            <a:ext cx="5303520" cy="321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dirty="0">
                <a:solidFill>
                  <a:srgbClr val="FF0000"/>
                </a:solidFill>
                <a:latin typeface="Courier New"/>
              </a:rPr>
              <a:t>Code extrait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@Service</a:t>
            </a: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public class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SchoolService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 {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private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SchoolRepository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schoolRepository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private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StudentRepository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studentRepository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private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InstructorRepository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instructorRepository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private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CourseRepository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050" dirty="0" err="1">
                <a:solidFill>
                  <a:srgbClr val="000000"/>
                </a:solidFill>
                <a:latin typeface="Courier New"/>
              </a:rPr>
              <a:t>courseRepository</a:t>
            </a:r>
            <a:r>
              <a:rPr sz="1050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API REST — TestSchoolController (Question 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85216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/school/createSchool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Créer une School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/school/getSchool/{id}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Récupérer School par ID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/school/createStudent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Créer un Student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/school/students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Lister tous les Students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/school/createInstructor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Créer un Instructor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/school/instructorByName?name=X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Chercher Instructor par nom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/school/getInstructor/{id}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Récupérer Instructor par ID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/school/getCourse/{id}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Récupérer Course par ID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/school/getInstructor/{id}/courses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Lister cours d'un Instructor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/school/instructor/{id}/addCourse/{cId}</a:t>
            </a:r>
          </a:p>
          <a:p>
            <a:pPr>
              <a:spcAft>
                <a:spcPts val="100"/>
              </a:spcAft>
            </a:pPr>
            <a:r>
              <a:rPr sz="910">
                <a:solidFill>
                  <a:srgbClr val="000000"/>
                </a:solidFill>
                <a:latin typeface="Arial"/>
              </a:rPr>
              <a:t>Ajouter un cours à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005840"/>
            <a:ext cx="530352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Code ajouté</a:t>
            </a:r>
          </a:p>
          <a:p>
            <a:pPr>
              <a:spcAft>
                <a:spcPts val="100"/>
              </a:spcAft>
            </a:pPr>
            <a:endParaRPr sz="100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@RestController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@RequestMapping("/school")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public class TestSchoolController {</a:t>
            </a:r>
          </a:p>
          <a:p>
            <a:pPr>
              <a:spcAft>
                <a:spcPts val="100"/>
              </a:spcAft>
            </a:pPr>
            <a:endParaRPr sz="100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private SchoolService schoolService;</a:t>
            </a:r>
          </a:p>
          <a:p>
            <a:pPr>
              <a:spcAft>
                <a:spcPts val="100"/>
              </a:spcAft>
            </a:pPr>
            <a:endParaRPr sz="1000">
              <a:solidFill>
                <a:srgbClr val="0000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@PostMapping("/createSchool")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@GetMapping("/getSchool/{id}")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@PostMapping("/createStudent")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@GetMapping("/students")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@PostMapping("/createInstructor")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@GetMapping("/getInstructor/{id}/courses")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@PostMapping("/instructor/{id}/addCourse/{cId}")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1076</Words>
  <Application>Microsoft Office PowerPoint</Application>
  <PresentationFormat>Grand écran</PresentationFormat>
  <Paragraphs>208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JetBrains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hanin</cp:lastModifiedBy>
  <cp:revision>3</cp:revision>
  <dcterms:created xsi:type="dcterms:W3CDTF">2013-01-27T09:14:16Z</dcterms:created>
  <dcterms:modified xsi:type="dcterms:W3CDTF">2026-05-03T02:40:15Z</dcterms:modified>
  <cp:category/>
</cp:coreProperties>
</file>